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us Jakarta Sans" panose="020B060402020202020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2003226"/>
            <a:ext cx="2276475" cy="28575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749998"/>
            <a:ext cx="4572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2517576"/>
            <a:ext cx="5860732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Impact of AI on Modern Healthcare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759398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Transforming Diagnostic Precision, Clinical Workflows, and Personalized Medicine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42950" y="2060376"/>
            <a:ext cx="2105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INNOVATION REPORT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19200" y="4673798"/>
            <a:ext cx="41790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 of Computer Science &amp;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609600" y="2667000"/>
            <a:ext cx="3454449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368849" y="2667000"/>
            <a:ext cx="3454449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128099" y="2667000"/>
            <a:ext cx="3454449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350" y="30194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30194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02849" y="30194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OVERVIEW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Accelerating Healthcare Transformation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32400" y="3476625"/>
            <a:ext cx="360884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+30%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18325" y="4219575"/>
            <a:ext cx="34369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Diagnostic Accuracy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18325" y="4514850"/>
            <a:ext cx="34369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learning models reduce radiologist misinterpretation rates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291649" y="3476625"/>
            <a:ext cx="360884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-60%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377574" y="4219575"/>
            <a:ext cx="34369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EHR Documentation Time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377574" y="4514850"/>
            <a:ext cx="34369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NLP transcription minimizes physician administrative burdens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050899" y="3476625"/>
            <a:ext cx="360884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500+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136824" y="4219575"/>
            <a:ext cx="34369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FDA-Cleared AI Devices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136824" y="4514850"/>
            <a:ext cx="34369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Rapid clinical deployment across cardiology, radiology, and oncology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1409" y="228600"/>
            <a:ext cx="4731990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2337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40433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850" y="33289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41386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09600" y="2376487"/>
            <a:ext cx="722951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DOMAIN 01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" y="2624137"/>
            <a:ext cx="75909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in Diagnostic Medical Imaging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04900" y="3233737"/>
            <a:ext cx="66103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Lesion Detection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04900" y="3490912"/>
            <a:ext cx="538355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Convolutional neural networks detect early pulmonary nodules and micro-calcifications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04900" y="4043362"/>
            <a:ext cx="6512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Triage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04900" y="4300537"/>
            <a:ext cx="65127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Prioritizes critical emergency scans instantly for urgent radiologist evaluation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609600" y="2881312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343400" y="2881312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077200" y="2881312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31956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7725" y="31956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31956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33289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91075" y="33289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34400" y="33289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DOMAIN 02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Personalized Medicine &amp; Genomics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23925" y="38433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Genomic Sequencing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23925" y="4195762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Accelerates gene variant interpretation for customized oncology therapies.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57725" y="38433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Drug Discovery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657725" y="4195762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Simulates molecular docking to identify drug candidates in months.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91525" y="38433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Biomarker Matching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391525" y="4195762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Matches specific patient profiles directly to specialized clinical trials.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4731990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8790" y="31432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8790" y="3952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3090" y="32385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3090" y="404812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98790" y="2286000"/>
            <a:ext cx="639320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EFFICIENCY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98790" y="2533650"/>
            <a:ext cx="639320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Administrative Workflow Automation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294090" y="3143250"/>
            <a:ext cx="589790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Ambient NLP Transcription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294090" y="3400425"/>
            <a:ext cx="538355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Converts doctor-patient dialogue into structured EHR clinical notes seamlessly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294090" y="3952875"/>
            <a:ext cx="589790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Billing &amp; Coding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294090" y="4210050"/>
            <a:ext cx="538355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Extracts diagnostic codes automatically to eliminate manual claim submission errors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609600" y="383664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09600" y="2316509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SYSTEM ARCHITECTURE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09600" y="2602259"/>
            <a:ext cx="8101012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Pillars of AI-Enabled Healthcare Transformation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09600" y="4103340"/>
            <a:ext cx="61912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technical precision, surgical accuracy, and administrative speed across modern medical facilities.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/>
          <p:nvPr/>
        </p:nvSpPr>
        <p:spPr>
          <a:xfrm>
            <a:off x="609600" y="3281362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400425" y="3281362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191250" y="3281362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8982075" y="3281362"/>
            <a:ext cx="2600325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09600" y="32813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400425" y="32813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191250" y="32813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8982075" y="3281362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SYSTEMIC IMPACT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Measurable Clinical Outcomes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76300" y="3586162"/>
            <a:ext cx="271283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Diagnostic Precision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76300" y="3881437"/>
            <a:ext cx="21621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Higher sensitivity in early-stage tumor detection.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3667125" y="3586162"/>
            <a:ext cx="271283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Workflow Velocity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3667125" y="3881437"/>
            <a:ext cx="21621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Accelerated patient intake and triage processing.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457950" y="3586162"/>
            <a:ext cx="271283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Burnout Reduction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457950" y="3881437"/>
            <a:ext cx="21621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charting restores physician consultation focus.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248775" y="3586162"/>
            <a:ext cx="271283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Allocation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248775" y="3881437"/>
            <a:ext cx="21621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ICU bed and staffing requirement models.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1409" y="228600"/>
            <a:ext cx="4731990" cy="6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3242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952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341947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850" y="40481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09600" y="2466975"/>
            <a:ext cx="722951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INNOVATION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09600" y="2714625"/>
            <a:ext cx="75909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Robotic-Assisted Surgery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04900" y="3324225"/>
            <a:ext cx="59888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Sub-Millimeter Motion Control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04900" y="3581400"/>
            <a:ext cx="598884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Filters physiological tremors during complex neurosurgical procedures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104900" y="3952875"/>
            <a:ext cx="5905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Faster Post-Op Recovery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04900" y="4210050"/>
            <a:ext cx="5905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Minimally invasive incisions shorten patient hospital stays significantly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>
            <a:off x="609600" y="3071812"/>
            <a:ext cx="2421731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459956" y="3157537"/>
            <a:ext cx="2421731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310312" y="3157537"/>
            <a:ext cx="2421731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9160668" y="3157537"/>
            <a:ext cx="2421731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1668065" y="33099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518421" y="33956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368778" y="33956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0219134" y="33956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3731" y="385286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4087" y="385286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4443" y="3852862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FRAMEWORK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Clinical AI Integration Pipeline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525190" y="3309937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543743" y="3767137"/>
            <a:ext cx="25534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Ingestion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04539" y="4043362"/>
            <a:ext cx="243185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FHIR standard data aggregation across EHR systems.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375546" y="33956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3394099" y="3852862"/>
            <a:ext cx="25534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Validation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3454896" y="4129087"/>
            <a:ext cx="243185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Multi-center clinical trial testing for accuracy verification.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225903" y="33956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244456" y="3852862"/>
            <a:ext cx="25534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EHR Deployment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305252" y="4129087"/>
            <a:ext cx="243185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inference interface within doctor workflows.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076259" y="33956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9094812" y="3852862"/>
            <a:ext cx="25534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Real-World Audit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155608" y="4129087"/>
            <a:ext cx="243185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post-market safety &amp; drift tracking.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2428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8790" y="31432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8790" y="39528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4990" y="32385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94040" y="40481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5798790" y="2286000"/>
            <a:ext cx="639320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ETHICS &amp; REGULATION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798790" y="2533650"/>
            <a:ext cx="639320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&amp; Ethical Safeguards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294090" y="3143250"/>
            <a:ext cx="589790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Patient Data Privacy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294090" y="3400425"/>
            <a:ext cx="538355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HIPAA compliance, zero-trust cloud encryption, and federated learning protocols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294090" y="3952875"/>
            <a:ext cx="589790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Explainable AI (XAI)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294090" y="4210050"/>
            <a:ext cx="538355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Eliminating "black box" decisions by generating clear visual attention heatmaps for clinicians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/>
          <p:nvPr/>
        </p:nvSpPr>
        <p:spPr>
          <a:xfrm>
            <a:off x="609600" y="1466850"/>
            <a:ext cx="5334000" cy="485775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248400" y="1466850"/>
            <a:ext cx="5334000" cy="4857750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PARADIGM SHIFT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vs. AI-Enhanced Care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23925" y="1781175"/>
            <a:ext cx="61757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HEALTHCARE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562725" y="1781175"/>
            <a:ext cx="5629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AI-ENHANCED HEALTHCARE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923925" y="2209800"/>
            <a:ext cx="5881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Approach: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Reactive symptomatic treatment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923925" y="2562225"/>
            <a:ext cx="5881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Diagnostics: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Manual scan interpretation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923925" y="2914650"/>
            <a:ext cx="5881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Charting: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Manual physician transcription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23925" y="3267075"/>
            <a:ext cx="5881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Therapy: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Generalized medication standards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562725" y="2209800"/>
            <a:ext cx="5629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Approach:</a:t>
            </a:r>
            <a:r>
              <a:rPr lang="en-US" sz="1200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Predictive &amp; preventive health intervention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562725" y="2562225"/>
            <a:ext cx="5629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Diagnostics:</a:t>
            </a:r>
            <a:r>
              <a:rPr lang="en-US" sz="1200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Computer vision-assisted triage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562725" y="2914650"/>
            <a:ext cx="5629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Charting:</a:t>
            </a:r>
            <a:r>
              <a:rPr lang="en-US" sz="1200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Ambient voice-to-text EHR automation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562725" y="3267075"/>
            <a:ext cx="5629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Therapy:</a:t>
            </a:r>
            <a:r>
              <a:rPr lang="en-US" sz="1200" b="0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Genome-tailored precision dosing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/>
          <p:nvPr/>
        </p:nvSpPr>
        <p:spPr>
          <a:xfrm>
            <a:off x="4476750" y="4776787"/>
            <a:ext cx="3238500" cy="523875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 cap="flat" cmpd="sng">
            <a:solidFill>
              <a:srgbClr val="272E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9300" y="155733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1700" y="17097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395912" y="2319337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1595437" y="2605087"/>
            <a:ext cx="900112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Empowering Clinicians, Elevating Care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2643187" y="3957637"/>
            <a:ext cx="69056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serves as a force multiplier for clinical expertise, driving a safer and more responsive healthcare future.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4464843" y="4938712"/>
            <a:ext cx="32623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— Questions &amp; Discussion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2476500"/>
            <a:ext cx="1104900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3324225"/>
            <a:ext cx="1104900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3314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3314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4162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4162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382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78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57475"/>
            <a:ext cx="14287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052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52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https://media.istockphoto.com/id/2160720006/photo/medical-hospital-research-laboratory-caucasian-male-neurosurgeon-looking-at-tv-screen-with.jpg?s=612x612&amp;w=0&amp;k=20&amp;c=KtLx7GkbI6Tw-FoS1YAnikEo9sQjrf-dm9zi5kaqebw=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1666875" y="1352550"/>
            <a:ext cx="2833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www.istockphoto.com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1885950"/>
            <a:ext cx="60602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https://chatt-endo.com/wp-content/uploads/2024/03/Digital-Radiography.jpg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1666875" y="2085975"/>
            <a:ext cx="2262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chatt-endo.com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1666875" y="261937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https://img.magnific.com/premium-photo/tablet-research-happy-black-man-doctor-internet-medical-healthcare-information-online-hospital-smile-medicine-professional-typing-health-website-app-modern-clinic_590464-285159.jpg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2971800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www.magnific.com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1666875" y="3467100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https://www.toplinemd.com/advanced-surgical-physicians/wp-content/uploads/sites/14/2025/08/Advanced-Surgical-Physicians-Robotic-Assisted-Surgery-scaled.jpg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1666875" y="3819525"/>
            <a:ext cx="26789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www.toplinemd.com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431482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https://www.wolterskluwer.com/cdn-images/3087481-young-nurse-checking-appointments-list-on-digital-tablet-in-busy-medical-office-b2756c4c57?v=ce2196e8&amp;q=80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666875" y="4667250"/>
            <a:ext cx="29765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www.wolterskluwer.com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modified xsi:type="dcterms:W3CDTF">2026-10-06T05:35:46Z</dcterms:modified>
</cp:coreProperties>
</file>